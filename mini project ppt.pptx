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0" d="100"/>
          <a:sy n="80" d="100"/>
        </p:scale>
        <p:origin x="754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Relative Operations (n = 100, illustrative)</c:v>
                </c:pt>
              </c:strCache>
            </c:strRef>
          </c:tx>
          <c:spPr>
            <a:solidFill>
              <a:srgbClr val="16213E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49CB-41E7-A8BD-50AA655C790C}"/>
              </c:ext>
            </c:extLst>
          </c:dPt>
          <c:dPt>
            <c:idx val="1"/>
            <c:invertIfNegative val="0"/>
            <c:bubble3D val="0"/>
            <c:spPr>
              <a:solidFill>
                <a:srgbClr val="3D5A8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49CB-41E7-A8BD-50AA655C790C}"/>
              </c:ext>
            </c:extLst>
          </c:dPt>
          <c:dPt>
            <c:idx val="2"/>
            <c:invertIfNegative val="0"/>
            <c:bubble3D val="0"/>
            <c:spPr>
              <a:solidFill>
                <a:srgbClr val="E0A45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49CB-41E7-A8BD-50AA655C790C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F243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Bubble
Sort  O(n²)</c:v>
                </c:pt>
                <c:pt idx="1">
                  <c:v>Merge / Quick /
Heap Sort  O(n log n)</c:v>
                </c:pt>
                <c:pt idx="2">
                  <c:v>Heap Insert
/Extract  O(log n)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10000</c:v>
                </c:pt>
                <c:pt idx="1">
                  <c:v>664</c:v>
                </c:pt>
                <c:pt idx="2">
                  <c:v>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49CB-41E7-A8BD-50AA655C790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47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127073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6400800" cy="6400800"/>
          </a:xfrm>
          <a:prstGeom prst="ellipse">
            <a:avLst/>
          </a:prstGeom>
          <a:solidFill>
            <a:srgbClr val="0E1830">
              <a:alpha val="7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286000" y="4389120"/>
            <a:ext cx="5029200" cy="5029200"/>
          </a:xfrm>
          <a:prstGeom prst="ellipse">
            <a:avLst/>
          </a:prstGeom>
          <a:solidFill>
            <a:srgbClr val="0E1830">
              <a:alpha val="60000"/>
            </a:srgbClr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914400"/>
            <a:ext cx="777240" cy="7772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77240" y="1874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 PROJECT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777240" y="228600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Student Ranking System</a:t>
            </a:r>
            <a:endParaRPr lang="en-US" sz="4600" dirty="0"/>
          </a:p>
        </p:txBody>
      </p:sp>
      <p:sp>
        <p:nvSpPr>
          <p:cNvPr id="7" name="Text 4"/>
          <p:cNvSpPr/>
          <p:nvPr/>
        </p:nvSpPr>
        <p:spPr>
          <a:xfrm>
            <a:off x="777240" y="31546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BFD0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Using Heap and Sorting Algorithms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822960" y="4160520"/>
            <a:ext cx="7955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Java console application that ranks students using four sorting algorithms and a custom Max-Heap for fast Top-K retrieval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822960" y="4983480"/>
            <a:ext cx="1463040" cy="0"/>
          </a:xfrm>
          <a:prstGeom prst="line">
            <a:avLst/>
          </a:prstGeom>
          <a:noFill/>
          <a:ln w="25400">
            <a:solidFill>
              <a:srgbClr val="E0A45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2960" y="6172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C97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by: [Likhitha]   |   [AITS-TPT]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6DC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029200" cy="4206240"/>
          </a:xfrm>
          <a:prstGeom prst="roundRect">
            <a:avLst>
              <a:gd name="adj" fmla="val 2609"/>
            </a:avLst>
          </a:prstGeom>
          <a:solidFill>
            <a:srgbClr val="F1F4F9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51560" y="2194560"/>
            <a:ext cx="822960" cy="822960"/>
          </a:xfrm>
          <a:prstGeom prst="ellipse">
            <a:avLst/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2728" y="2395728"/>
            <a:ext cx="420624" cy="42062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51560" y="3246120"/>
            <a:ext cx="4297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Ranking students efficiently becomes difficult as data grows.</a:t>
            </a:r>
            <a:endParaRPr lang="en-US" sz="2100" dirty="0"/>
          </a:p>
        </p:txBody>
      </p:sp>
      <p:sp>
        <p:nvSpPr>
          <p:cNvPr id="8" name="Shape 5"/>
          <p:cNvSpPr/>
          <p:nvPr/>
        </p:nvSpPr>
        <p:spPr>
          <a:xfrm>
            <a:off x="6263640" y="2148840"/>
            <a:ext cx="164592" cy="164592"/>
          </a:xfrm>
          <a:prstGeom prst="ellipse">
            <a:avLst/>
          </a:prstGeom>
          <a:solidFill>
            <a:srgbClr val="E0A458"/>
          </a:solidFill>
          <a:ln/>
        </p:spPr>
      </p:sp>
      <p:sp>
        <p:nvSpPr>
          <p:cNvPr id="9" name="Text 6"/>
          <p:cNvSpPr/>
          <p:nvPr/>
        </p:nvSpPr>
        <p:spPr>
          <a:xfrm>
            <a:off x="6629400" y="1938528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ranking is slow and error-prone for large classes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6263640" y="3383280"/>
            <a:ext cx="164592" cy="164592"/>
          </a:xfrm>
          <a:prstGeom prst="ellipse">
            <a:avLst/>
          </a:prstGeom>
          <a:solidFill>
            <a:srgbClr val="E0A458"/>
          </a:solidFill>
          <a:ln/>
        </p:spPr>
      </p:sp>
      <p:sp>
        <p:nvSpPr>
          <p:cNvPr id="11" name="Text 8"/>
          <p:cNvSpPr/>
          <p:nvPr/>
        </p:nvSpPr>
        <p:spPr>
          <a:xfrm>
            <a:off x="6629400" y="3172968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Sorting the full list wastes time when only top performers matter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6263640" y="4617720"/>
            <a:ext cx="164592" cy="164592"/>
          </a:xfrm>
          <a:prstGeom prst="ellipse">
            <a:avLst/>
          </a:prstGeom>
          <a:solidFill>
            <a:srgbClr val="E0A458"/>
          </a:solidFill>
          <a:ln/>
        </p:spPr>
      </p:sp>
      <p:sp>
        <p:nvSpPr>
          <p:cNvPr id="13" name="Text 10"/>
          <p:cNvSpPr/>
          <p:nvPr/>
        </p:nvSpPr>
        <p:spPr>
          <a:xfrm>
            <a:off x="6629400" y="4407408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sorting algorithms vary widely in performance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6263640" y="5852160"/>
            <a:ext cx="164592" cy="164592"/>
          </a:xfrm>
          <a:prstGeom prst="ellipse">
            <a:avLst/>
          </a:prstGeom>
          <a:solidFill>
            <a:srgbClr val="E0A458"/>
          </a:solidFill>
          <a:ln/>
        </p:spPr>
      </p:sp>
      <p:sp>
        <p:nvSpPr>
          <p:cNvPr id="15" name="Text 12"/>
          <p:cNvSpPr/>
          <p:nvPr/>
        </p:nvSpPr>
        <p:spPr>
          <a:xfrm>
            <a:off x="6629400" y="5641848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easy way to compare algorithm efficiency in practice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6DC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7C85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complementary approaches, built in core Java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5212080" cy="3931920"/>
          </a:xfrm>
          <a:prstGeom prst="roundRect">
            <a:avLst>
              <a:gd name="adj" fmla="val 2791"/>
            </a:avLst>
          </a:prstGeom>
          <a:solidFill>
            <a:srgbClr val="F1F4F9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51560" y="2377440"/>
            <a:ext cx="914400" cy="914400"/>
          </a:xfrm>
          <a:prstGeom prst="ellipse">
            <a:avLst/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0160" y="2606040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51560" y="3520440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Sorting Algorithms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1051560" y="4160520"/>
            <a:ext cx="43891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dirty="0">
                <a:solidFill>
                  <a:srgbClr val="475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Bubble, Merge, Quick, and Heap Sort rank students by marks in descending order, with execution time measured for comparison.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6126480" y="1965960"/>
            <a:ext cx="5212080" cy="3931920"/>
          </a:xfrm>
          <a:prstGeom prst="roundRect">
            <a:avLst>
              <a:gd name="adj" fmla="val 2791"/>
            </a:avLst>
          </a:prstGeom>
          <a:solidFill>
            <a:srgbClr val="F1F4F9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537960" y="2377440"/>
            <a:ext cx="914400" cy="914400"/>
          </a:xfrm>
          <a:prstGeom prst="ellipse">
            <a:avLst/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6560" y="2606040"/>
            <a:ext cx="457200" cy="4572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537960" y="3520440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 Max-Heap</a:t>
            </a:r>
            <a:endParaRPr lang="en-US" sz="1900" dirty="0"/>
          </a:p>
        </p:txBody>
      </p:sp>
      <p:sp>
        <p:nvSpPr>
          <p:cNvPr id="14" name="Text 10"/>
          <p:cNvSpPr/>
          <p:nvPr/>
        </p:nvSpPr>
        <p:spPr>
          <a:xfrm>
            <a:off x="6537960" y="4160520"/>
            <a:ext cx="43891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dirty="0">
                <a:solidFill>
                  <a:srgbClr val="4750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array-based Max-Heap (insert / extractMax) retrieves the Top-K students in O(log n) per operation, without sorting the entire list.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6DC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7C85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algorithms ranked correctly — with very different costs</a:t>
            </a:r>
            <a:endParaRPr lang="en-US" sz="15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548640" y="1965960"/>
          <a:ext cx="5760720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6629400" y="2057400"/>
            <a:ext cx="384048" cy="384048"/>
          </a:xfrm>
          <a:prstGeom prst="ellipse">
            <a:avLst/>
          </a:prstGeom>
          <a:solidFill>
            <a:srgbClr val="16213E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9984" y="2157984"/>
            <a:ext cx="182880" cy="18288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178040" y="1984248"/>
            <a:ext cx="4434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four algorithms produced identical, correctly ordered rankings</a:t>
            </a:r>
            <a:endParaRPr lang="en-US" sz="1350" dirty="0"/>
          </a:p>
        </p:txBody>
      </p:sp>
      <p:sp>
        <p:nvSpPr>
          <p:cNvPr id="9" name="Shape 5"/>
          <p:cNvSpPr/>
          <p:nvPr/>
        </p:nvSpPr>
        <p:spPr>
          <a:xfrm>
            <a:off x="6629400" y="3063240"/>
            <a:ext cx="384048" cy="384048"/>
          </a:xfrm>
          <a:prstGeom prst="ellipse">
            <a:avLst/>
          </a:prstGeom>
          <a:solidFill>
            <a:srgbClr val="16213E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9984" y="3163824"/>
            <a:ext cx="182880" cy="18288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178040" y="2990088"/>
            <a:ext cx="4434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Bubble Sort visibly slower than Merge / Quick / Heap Sort as data grew</a:t>
            </a:r>
            <a:endParaRPr lang="en-US" sz="1350" dirty="0"/>
          </a:p>
        </p:txBody>
      </p:sp>
      <p:sp>
        <p:nvSpPr>
          <p:cNvPr id="12" name="Shape 7"/>
          <p:cNvSpPr/>
          <p:nvPr/>
        </p:nvSpPr>
        <p:spPr>
          <a:xfrm>
            <a:off x="6629400" y="4069080"/>
            <a:ext cx="384048" cy="384048"/>
          </a:xfrm>
          <a:prstGeom prst="ellipse">
            <a:avLst/>
          </a:prstGeom>
          <a:solidFill>
            <a:srgbClr val="16213E"/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9984" y="4169664"/>
            <a:ext cx="182880" cy="18288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7178040" y="3995928"/>
            <a:ext cx="4434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Top-K Max-Heap retrieval was faster than a full sort for small K</a:t>
            </a:r>
            <a:endParaRPr lang="en-US" sz="1350" dirty="0"/>
          </a:p>
        </p:txBody>
      </p:sp>
      <p:sp>
        <p:nvSpPr>
          <p:cNvPr id="15" name="Shape 9"/>
          <p:cNvSpPr/>
          <p:nvPr/>
        </p:nvSpPr>
        <p:spPr>
          <a:xfrm>
            <a:off x="6629400" y="5074920"/>
            <a:ext cx="384048" cy="384048"/>
          </a:xfrm>
          <a:prstGeom prst="ellipse">
            <a:avLst/>
          </a:prstGeom>
          <a:solidFill>
            <a:srgbClr val="16213E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9984" y="5175504"/>
            <a:ext cx="182880" cy="18288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7178040" y="5001768"/>
            <a:ext cx="4434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time for each run displayed directly in the console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2286000"/>
            <a:ext cx="5943600" cy="5943600"/>
          </a:xfrm>
          <a:prstGeom prst="ellipse">
            <a:avLst/>
          </a:prstGeom>
          <a:solidFill>
            <a:srgbClr val="0E1830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326880" y="3657600"/>
            <a:ext cx="5486400" cy="5486400"/>
          </a:xfrm>
          <a:prstGeom prst="ellipse">
            <a:avLst/>
          </a:prstGeom>
          <a:solidFill>
            <a:srgbClr val="0E1830">
              <a:alpha val="6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13248" y="1005840"/>
            <a:ext cx="1371600" cy="1371600"/>
          </a:xfrm>
          <a:prstGeom prst="ellipse">
            <a:avLst/>
          </a:prstGeom>
          <a:solidFill>
            <a:srgbClr val="FFFFFF">
              <a:alpha val="92000"/>
            </a:srgbClr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3288" y="1325880"/>
            <a:ext cx="731520" cy="7315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0" y="2468880"/>
            <a:ext cx="1218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kern="0" spc="300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0" y="2834640"/>
            <a:ext cx="12188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BF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914400" y="3429000"/>
            <a:ext cx="1036015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Efficient ranking through sorting,</a:t>
            </a:r>
            <a:endParaRPr lang="en-US" sz="34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smarter selection through heaps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5486400" y="5257800"/>
            <a:ext cx="1216152" cy="0"/>
          </a:xfrm>
          <a:prstGeom prst="line">
            <a:avLst/>
          </a:prstGeom>
          <a:noFill/>
          <a:ln w="25400">
            <a:solidFill>
              <a:srgbClr val="E0A45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371600" y="5486400"/>
            <a:ext cx="94457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C2C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sorting algorithms and a custom Max-Heap, working together for accurate and efficient student rankings.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242</Words>
  <Application>Microsoft Office PowerPoint</Application>
  <PresentationFormat>Widescreen</PresentationFormat>
  <Paragraphs>36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Student Ranking System using Heap and Sorting Algorithms</dc:title>
  <dc:subject>PptxGenJS Presentation</dc:subject>
  <dc:creator>Claude</dc:creator>
  <cp:lastModifiedBy>Likhitha Krishna</cp:lastModifiedBy>
  <cp:revision>2</cp:revision>
  <dcterms:created xsi:type="dcterms:W3CDTF">2026-06-17T07:37:11Z</dcterms:created>
  <dcterms:modified xsi:type="dcterms:W3CDTF">2026-06-18T02:18:21Z</dcterms:modified>
</cp:coreProperties>
</file>